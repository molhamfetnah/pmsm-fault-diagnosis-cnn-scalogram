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2" Type="http://schemas.openxmlformats.org/officeDocument/2006/relationships/viewProps" Target="viewProps.xml" /><Relationship Id="rId3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4" Type="http://schemas.openxmlformats.org/officeDocument/2006/relationships/tableStyles" Target="tableStyles.xml" /><Relationship Id="rId3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تشخيص أعطال محركات PMSM باستخدام صور Wavelet Scalogram والشبكات العصبية الالتفافية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استخدام الشبكات العصبية الالتفافية (CNN) لتحليل صور Wavelet Scalogram في تشخيص أعطال محركات PMSM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جامعة حلب — كلية الهندسة الكهربائية والإلكترونية</a:t>
            </a:r>
            <a:r>
              <a:rPr/>
              <a:t> · </a:t>
            </a:r>
            <a:r>
              <a:rPr b="1"/>
              <a:t>قسم هندسة الميكاترونيكس</a:t>
            </a:r>
          </a:p>
          <a:p>
            <a:pPr lvl="0" indent="0" marL="0">
              <a:buNone/>
            </a:pPr>
            <a:r>
              <a:rPr/>
              <a:t>إعداد الطالبين: </a:t>
            </a:r>
            <a:r>
              <a:rPr b="1"/>
              <a:t>ملهم فتنة</a:t>
            </a:r>
            <a:r>
              <a:rPr/>
              <a:t> · </a:t>
            </a:r>
            <a:r>
              <a:rPr b="1"/>
              <a:t>محمد زين قباني</a:t>
            </a:r>
          </a:p>
          <a:p>
            <a:pPr lvl="0" indent="0" marL="0">
              <a:buNone/>
            </a:pPr>
            <a:r>
              <a:rPr/>
              <a:t>إشراف: </a:t>
            </a:r>
            <a:r>
              <a:rPr b="1"/>
              <a:t>م. سعد المصطفى</a:t>
            </a:r>
            <a:r>
              <a:rPr/>
              <a:t> · السنة: </a:t>
            </a:r>
            <a:r>
              <a:rPr b="1"/>
              <a:t>السنة الرابعة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١. المشكلة</a:t>
            </a:r>
          </a:p>
          <a:p>
            <a:pPr lvl="0"/>
            <a:r>
              <a:rPr/>
              <a:t>محركات </a:t>
            </a:r>
            <a:r>
              <a:rPr b="1"/>
              <a:t>PMSM</a:t>
            </a:r>
            <a:r>
              <a:rPr/>
              <a:t> تشغّل السيارات الكهربائية والروبوتات وأنظمة التحكم الصناعية ومُشغّلات الطيران.</a:t>
            </a:r>
          </a:p>
          <a:p>
            <a:pPr lvl="0"/>
            <a:r>
              <a:rPr/>
              <a:t>أكثر أعطال العضو الثابت شيوعاً — </a:t>
            </a:r>
            <a:r>
              <a:rPr b="1"/>
              <a:t>القصر بين اللفات (inter-turn)</a:t>
            </a:r>
            <a:r>
              <a:rPr/>
              <a:t> — قد يتطوّر إلى انهيار كامل للملف خلال دقائق.</a:t>
            </a:r>
          </a:p>
          <a:p>
            <a:pPr lvl="0"/>
            <a:r>
              <a:rPr/>
              <a:t>الهدف: </a:t>
            </a:r>
            <a:r>
              <a:rPr b="1"/>
              <a:t>كشف الأعطال آلياً وباكراً</a:t>
            </a:r>
            <a:r>
              <a:rPr/>
              <a:t> من إشارات المحرك نفسه.</a:t>
            </a:r>
          </a:p>
          <a:p>
            <a:pPr lvl="0"/>
            <a:r>
              <a:rPr/>
              <a:t>الطرق التقليدية (تحليل طيف التيار) تتطلّب خبيراً يعرف مسبقاً أيّ تردد يراقب، وتضعف عند تغيّر السرعة والحمل.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٢. الفكرة</a:t>
            </a:r>
          </a:p>
          <a:p>
            <a:pPr lvl="0" indent="0" marL="0">
              <a:buNone/>
            </a:pPr>
            <a:r>
              <a:rPr/>
              <a:t>تحويل مشكلة </a:t>
            </a:r>
            <a:r>
              <a:rPr b="1"/>
              <a:t>الإشارة</a:t>
            </a:r>
            <a:r>
              <a:rPr/>
              <a:t> إلى مشكلة </a:t>
            </a:r>
            <a:r>
              <a:rPr b="1"/>
              <a:t>صورة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latin typeface="Courier"/>
              </a:rPr>
              <a:t>الإشارة ⟵ تقطيع ⟵ CWT ⟵ صورة Scalogram ⟵ CNN ⟵ تصنيف الحالة
(تيار/اهتزاز)        (مويجة Morlet) (224×224)        سليم / عطل بين اللفات</a:t>
            </a:r>
          </a:p>
          <a:p>
            <a:pPr lvl="0"/>
            <a:r>
              <a:rPr/>
              <a:t>الشبكة </a:t>
            </a:r>
            <a:r>
              <a:rPr b="1"/>
              <a:t>تتعلّم</a:t>
            </a:r>
            <a:r>
              <a:rPr/>
              <a:t> بصمات العطل بنفسها — دون هندسة سمات يدوية.</a:t>
            </a:r>
          </a:p>
          <a:p>
            <a:pPr lvl="0"/>
            <a:r>
              <a:rPr/>
              <a:t>قناتان مدروستان: </a:t>
            </a:r>
            <a:r>
              <a:rPr b="1"/>
              <a:t>تيار العضو الثابت</a:t>
            </a:r>
            <a:r>
              <a:rPr/>
              <a:t> و</a:t>
            </a:r>
            <a:r>
              <a:rPr b="1"/>
              <a:t>الاهتزاز</a:t>
            </a:r>
            <a:r>
              <a:rPr/>
              <a:t>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٣. منظومة المعالجة</a:t>
            </a:r>
          </a:p>
          <a:p>
            <a:pPr lvl="0"/>
            <a:r>
              <a:rPr b="1"/>
              <a:t>المصادر:</a:t>
            </a:r>
            <a:r>
              <a:rPr/>
              <a:t> مجموعة بيانات KAIST الحقيقية (تيار + اهتزاز)، ومولّد إشارات اصطناعي، ومحاكاة MATLAB (FOC + Simscape).</a:t>
            </a:r>
          </a:p>
          <a:p>
            <a:pPr lvl="0"/>
            <a:r>
              <a:rPr b="1"/>
              <a:t>ملف إعدادات واحد + بيان (manifest) واحد</a:t>
            </a:r>
            <a:r>
              <a:rPr/>
              <a:t> يربط: إشارة ⟵ scalogram ⟵ تصنيف ⟵ تقسيم — قابل للتكرار بالكامل.</a:t>
            </a:r>
          </a:p>
          <a:p>
            <a:pPr lvl="0"/>
            <a:r>
              <a:rPr/>
              <a:t>مُنفَّذة بلغة Python (TensorFlow/Keras، PyWavelets)، دون الحاجة إلى MATLAB، مع </a:t>
            </a:r>
            <a:r>
              <a:rPr b="1"/>
              <a:t>٣٨ اختبار وحدة + تكامل مستمر (CI)</a:t>
            </a:r>
            <a:r>
              <a:rPr/>
              <a:t>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٤. محرك PMSM وأعطاله</a:t>
            </a:r>
          </a:p>
          <a:p>
            <a:pPr lvl="0"/>
            <a:r>
              <a:rPr/>
              <a:t>PMSM: دوّار بمغناطيس دائم يتعقّب الحقل الدوّار للعضو الثابت ⟵ يدور </a:t>
            </a:r>
            <a:r>
              <a:rPr b="1"/>
              <a:t>بشكل متزامن</a:t>
            </a:r>
            <a:r>
              <a:rPr/>
              <a:t>، بلا انزلاق ⟵ كفاءة عالية.</a:t>
            </a:r>
          </a:p>
          <a:p>
            <a:pPr lvl="0"/>
            <a:r>
              <a:rPr/>
              <a:t>يُقاد عبر </a:t>
            </a:r>
            <a:r>
              <a:rPr b="1"/>
              <a:t>التحكم الموجّه حقلياً (FOC)</a:t>
            </a:r>
            <a:r>
              <a:rPr/>
              <a:t> — وحسّاسات التيار موجودة أصلاً في المُشغّل.</a:t>
            </a:r>
          </a:p>
          <a:p>
            <a:pPr lvl="0"/>
            <a:r>
              <a:rPr/>
              <a:t>الأعطال المدروسة:</a:t>
            </a:r>
          </a:p>
          <a:p>
            <a:pPr lvl="1"/>
            <a:r>
              <a:rPr b="1"/>
              <a:t>القصر بين اللفات</a:t>
            </a:r>
            <a:r>
              <a:rPr/>
              <a:t> (الأساسي، بيانات حقيقية)</a:t>
            </a:r>
          </a:p>
          <a:p>
            <a:pPr lvl="1"/>
            <a:r>
              <a:rPr b="1"/>
              <a:t>إزالة المغنطة</a:t>
            </a:r>
            <a:r>
              <a:rPr/>
              <a:t>، </a:t>
            </a:r>
            <a:r>
              <a:rPr b="1"/>
              <a:t>الحمل الزائد</a:t>
            </a:r>
            <a:r>
              <a:rPr/>
              <a:t> (اصطناعية)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المحرك ونظام التحكّم</a:t>
            </a:r>
          </a:p>
        </p:txBody>
      </p:sp>
      <p:pic>
        <p:nvPicPr>
          <p:cNvPr descr="../figures/fig_foc_bloc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574800"/>
            <a:ext cx="5105400" cy="1638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عضو ثابت (ملف ثلاثي الطور) + عضو دوّار مغناطيسي؛ يُقاد بعاكس تحت </a:t>
            </a:r>
            <a:r>
              <a:rPr b="1"/>
              <a:t>FOC</a:t>
            </a:r>
            <a:r>
              <a:rPr/>
              <a:t>.</a:t>
            </a:r>
          </a:p>
          <a:p>
            <a:pPr lvl="0"/>
            <a:r>
              <a:rPr/>
              <a:t>حلقة التيّار </a:t>
            </a:r>
            <a:r>
              <a:rPr b="1"/>
              <a:t>ترفض الاضطرابات ← تُخفي بصمة العطل في التيّار</a:t>
            </a:r>
            <a:r>
              <a:rPr/>
              <a:t>.</a:t>
            </a:r>
          </a:p>
          <a:p>
            <a:pPr lvl="0"/>
            <a:r>
              <a:rPr/>
              <a:t>ولهذا </a:t>
            </a:r>
            <a:r>
              <a:rPr b="1"/>
              <a:t>يكشف الاهتزاز القِصَر بين اللفّات أفضل بكثير</a:t>
            </a:r>
            <a:r>
              <a:rPr/>
              <a:t> (نتيجتنا الأساسية).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PMSM مقابل نظائره</a:t>
            </a:r>
          </a:p>
        </p:txBody>
      </p:sp>
      <p:pic>
        <p:nvPicPr>
          <p:cNvPr descr="../figures/fig_motor_comparis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524000"/>
            <a:ext cx="5105400" cy="172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مقابل </a:t>
            </a:r>
            <a:r>
              <a:rPr b="1"/>
              <a:t>PMDC</a:t>
            </a:r>
            <a:r>
              <a:rPr/>
              <a:t>: نفس سهولة التحكّم بالعزم، لكن دون فُرَش ← صيانة أقل.</a:t>
            </a:r>
          </a:p>
          <a:p>
            <a:pPr lvl="0"/>
            <a:r>
              <a:rPr/>
              <a:t>مقابل </a:t>
            </a:r>
            <a:r>
              <a:rPr b="1"/>
              <a:t>BLDC</a:t>
            </a:r>
            <a:r>
              <a:rPr/>
              <a:t>: قوة دافعة جيبية + FOC ← عزم أنعم وكفاءة أعلى.</a:t>
            </a:r>
          </a:p>
          <a:p>
            <a:pPr lvl="0"/>
            <a:r>
              <a:rPr/>
              <a:t>مقابل </a:t>
            </a:r>
            <a:r>
              <a:rPr b="1"/>
              <a:t>الحثّي</a:t>
            </a:r>
            <a:r>
              <a:rPr/>
              <a:t>: لا تيّار/انزلاق في العضو الدوّار ← كفاءة وكثافة عزم أعلى.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كشف العطل — اليوم مقابل هذا العمل</a:t>
            </a:r>
          </a:p>
        </p:txBody>
      </p:sp>
      <p:pic>
        <p:nvPicPr>
          <p:cNvPr descr="../figures/fig_detection_taxonom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84300"/>
            <a:ext cx="5105400" cy="200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يدوي/خارج الخط (حراري، </a:t>
            </a:r>
            <a:r>
              <a:rPr b="1"/>
              <a:t>Megger</a:t>
            </a:r>
            <a:r>
              <a:rPr/>
              <a:t>، موجة صاعقة) ← يتطلّب إيقافاً، دوري.</a:t>
            </a:r>
          </a:p>
          <a:p>
            <a:pPr lvl="0"/>
            <a:r>
              <a:rPr/>
              <a:t>متّصل MCSA/اهتزاز FFT ← عتبات ثابتة، يخدعها الحِمل/السرعة.</a:t>
            </a:r>
          </a:p>
          <a:p>
            <a:pPr lvl="0"/>
            <a:r>
              <a:rPr b="1"/>
              <a:t>مخطط CWT + CNN</a:t>
            </a:r>
            <a:r>
              <a:rPr/>
              <a:t> ← يتعلّم الخصائص، متين، يكشف </a:t>
            </a:r>
            <a:r>
              <a:rPr b="1"/>
              <a:t>أبكر</a:t>
            </a:r>
            <a:r>
              <a:rPr/>
              <a:t>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٥. لماذا المويجات وليس فورييه؟</a:t>
            </a:r>
          </a:p>
          <a:p>
            <a:pPr lvl="0"/>
            <a:r>
              <a:rPr/>
              <a:t>تحويل فورييه </a:t>
            </a:r>
            <a:r>
              <a:rPr b="1"/>
              <a:t>أعمى زمنياً</a:t>
            </a:r>
            <a:r>
              <a:rPr/>
              <a:t> — لا يخبرنا </a:t>
            </a:r>
            <a:r>
              <a:rPr i="1"/>
              <a:t>متى</a:t>
            </a:r>
            <a:r>
              <a:rPr/>
              <a:t> يحدث التردد.</a:t>
            </a:r>
          </a:p>
          <a:p>
            <a:pPr lvl="0"/>
            <a:r>
              <a:rPr/>
              <a:t>إشارات الأعطال </a:t>
            </a:r>
            <a:r>
              <a:rPr b="1"/>
              <a:t>غير مستقرة</a:t>
            </a:r>
            <a:r>
              <a:rPr/>
              <a:t> (عابرة، تعتمد على الحمل).</a:t>
            </a:r>
          </a:p>
          <a:p>
            <a:pPr lvl="0"/>
            <a:r>
              <a:rPr/>
              <a:t>مبدأ عدم اليقين: </a:t>
            </a:r>
            <a:r>
              <a:rPr>
                <a:latin typeface="Courier"/>
              </a:rPr>
              <a:t>Δt · Δf ≥ ثابت</a:t>
            </a:r>
            <a:r>
              <a:rPr/>
              <a:t> — يستحيل دقّة زمنية وترددية مثاليّتان معاً.</a:t>
            </a:r>
          </a:p>
          <a:p>
            <a:pPr lvl="0"/>
            <a:r>
              <a:rPr b="1"/>
              <a:t>المويجات</a:t>
            </a:r>
            <a:r>
              <a:rPr/>
              <a:t> = موجات قصيرة موضعية ⟵ دقّة ترددية متغيّرة، مثاليّة للظواهر العابرة.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٦. تحويل المويجات المستمر (CWT) ومخطط الطيف</a:t>
            </a:r>
          </a:p>
          <a:p>
            <a:pPr lvl="0"/>
            <a:r>
              <a:rPr/>
              <a:t>نُقيّس مويجة </a:t>
            </a:r>
            <a:r>
              <a:rPr b="1"/>
              <a:t>Morlet</a:t>
            </a:r>
            <a:r>
              <a:rPr/>
              <a:t> (مقبض التردد) ونُزلقها (مقبض الزمن).</a:t>
            </a:r>
          </a:p>
          <a:p>
            <a:pPr lvl="0"/>
            <a:r>
              <a:rPr/>
              <a:t>كلّ معامل = </a:t>
            </a:r>
            <a:r>
              <a:rPr b="1"/>
              <a:t>تشابه</a:t>
            </a:r>
            <a:r>
              <a:rPr/>
              <a:t> الإشارة مع تلك الموجة عند ذلك الزمن.</a:t>
            </a:r>
          </a:p>
          <a:p>
            <a:pPr lvl="0"/>
            <a:r>
              <a:rPr b="1"/>
              <a:t>Scalogram</a:t>
            </a:r>
            <a:r>
              <a:rPr/>
              <a:t> = صورة ملوّنة للطاقة مقابل الزمن (س) والتردد (ص).</a:t>
            </a:r>
          </a:p>
          <a:p>
            <a:pPr lvl="0"/>
            <a:r>
              <a:rPr/>
              <a:t>الحُزَم والنطاقات الجانبية الساطعة = بصمات العطل التي </a:t>
            </a:r>
            <a:r>
              <a:rPr i="1"/>
              <a:t>تراها</a:t>
            </a:r>
            <a:r>
              <a:rPr/>
              <a:t> الشبكة.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٧. أمثلة على المخططات (بيانات KAIST الحقيقية)</a:t>
            </a:r>
          </a:p>
        </p:txBody>
      </p:sp>
      <p:pic>
        <p:nvPicPr>
          <p:cNvPr descr="../../results/example_scalograms_re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727200"/>
            <a:ext cx="5105400" cy="134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العطل بين اللفات يُثري محتوى الزمن–التردد في قناة </a:t>
            </a:r>
            <a:r>
              <a:rPr b="1"/>
              <a:t>الاهتزاز</a:t>
            </a:r>
            <a:r>
              <a:rPr/>
              <a:t> بوضوح.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٨. مجموعة البيانات</a:t>
            </a:r>
          </a:p>
          <a:p>
            <a:pPr lvl="0"/>
            <a:r>
              <a:rPr b="1"/>
              <a:t>مجموعة KAIST لأعطال العضو الثابت</a:t>
            </a:r>
            <a:r>
              <a:rPr/>
              <a:t> (Mendeley </a:t>
            </a:r>
            <a:r>
              <a:rPr>
                <a:latin typeface="Courier"/>
              </a:rPr>
              <a:t>rgn5brrgrn</a:t>
            </a:r>
            <a:r>
              <a:rPr/>
              <a:t>، رخصة CC-BY-4.0).</a:t>
            </a:r>
          </a:p>
          <a:p>
            <a:pPr lvl="0"/>
            <a:r>
              <a:rPr/>
              <a:t>التيار بمعدّل </a:t>
            </a:r>
            <a:r>
              <a:rPr b="1"/>
              <a:t>100 kHz</a:t>
            </a:r>
            <a:r>
              <a:rPr/>
              <a:t>، الاهتزاز </a:t>
            </a:r>
            <a:r>
              <a:rPr b="1"/>
              <a:t>25.6 kHz</a:t>
            </a:r>
            <a:r>
              <a:rPr/>
              <a:t> ⟵ خُفّضا إلى 10 kHz.</a:t>
            </a:r>
          </a:p>
          <a:p>
            <a:pPr lvl="0"/>
            <a:r>
              <a:rPr b="1"/>
              <a:t>3,150</a:t>
            </a:r>
            <a:r>
              <a:rPr/>
              <a:t> مقطع scalogram (نوافذ 0.5 ثانية، تداخل 50%).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القناة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سليم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عطل بين اللفات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تيار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 (4 تسجيلات)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1350 (27 تسجيل)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اهتزاز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 (4 تسجيلات)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1400 (28 تسجيل)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٩. تقسيم خالٍ من التسرّب</a:t>
            </a:r>
          </a:p>
          <a:p>
            <a:pPr lvl="0"/>
            <a:r>
              <a:rPr/>
              <a:t>التقسيم حسب </a:t>
            </a:r>
            <a:r>
              <a:rPr b="1"/>
              <a:t>التسجيل</a:t>
            </a:r>
            <a:r>
              <a:rPr/>
              <a:t> لا حسب المقطع ⟵ لا نوافذ مترابطة بين التدريب/الاختبار (لا تسرّب بيانات).</a:t>
            </a:r>
          </a:p>
          <a:p>
            <a:pPr lvl="0"/>
            <a:r>
              <a:rPr/>
              <a:t>مُصنّف حسب الفئة، </a:t>
            </a:r>
            <a:r>
              <a:rPr b="1"/>
              <a:t>لكل قناة</a:t>
            </a:r>
            <a:r>
              <a:rPr/>
              <a:t>، بنسبة 70 / 15 / 15.</a:t>
            </a:r>
          </a:p>
          <a:p>
            <a:pPr lvl="0"/>
            <a:r>
              <a:rPr/>
              <a:t>انتباه خاص: </a:t>
            </a:r>
            <a:r>
              <a:rPr b="1"/>
              <a:t>4 تسجيلات سليمة فقط</a:t>
            </a:r>
            <a:r>
              <a:rPr/>
              <a:t> ⟵ نضمن تسجيلاً واحداً على الأقل في كل قسم ليكون كل صنف قابلاً للتقييم.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١٠. اختلال توازن الأصناف — القضية الجوهرية</a:t>
            </a:r>
          </a:p>
          <a:p>
            <a:pPr lvl="0"/>
            <a:r>
              <a:rPr b="1"/>
              <a:t>4 تسجيلات سليمة</a:t>
            </a:r>
            <a:r>
              <a:rPr/>
              <a:t> مقابل ~60 تسجيل معطوب.</a:t>
            </a:r>
          </a:p>
          <a:p>
            <a:pPr lvl="0"/>
            <a:r>
              <a:rPr/>
              <a:t>التدريب الساذج ⟵ النموذج يتنبّأ “معطوب” دائماً: </a:t>
            </a:r>
            <a:r>
              <a:rPr b="1"/>
              <a:t>“دقة” 80% لكن كشف صفري للسليم</a:t>
            </a:r>
            <a:r>
              <a:rPr/>
              <a:t>.</a:t>
            </a:r>
          </a:p>
          <a:p>
            <a:pPr lvl="0"/>
            <a:r>
              <a:rPr/>
              <a:t>الحل: </a:t>
            </a:r>
            <a:r>
              <a:rPr b="1"/>
              <a:t>خفض عيّنة الأغلبية في التدريب/التحقق</a:t>
            </a:r>
            <a:r>
              <a:rPr/>
              <a:t>، وإبقاء </a:t>
            </a:r>
            <a:r>
              <a:rPr b="1"/>
              <a:t>الاختبار طبيعياً</a:t>
            </a:r>
            <a:r>
              <a:rPr/>
              <a:t>.</a:t>
            </a:r>
          </a:p>
          <a:p>
            <a:pPr lvl="0"/>
            <a:r>
              <a:rPr/>
              <a:t>نُبلِّغ </a:t>
            </a:r>
            <a:r>
              <a:rPr b="1"/>
              <a:t>الدقة المتوازنة</a:t>
            </a:r>
            <a:r>
              <a:rPr/>
              <a:t> و </a:t>
            </a:r>
            <a:r>
              <a:rPr b="1"/>
              <a:t>macro-F1</a:t>
            </a:r>
            <a:r>
              <a:rPr/>
              <a:t>، لا الدقة الخام.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١١. بنية الشبكة العصبية الالتفافية</a:t>
            </a:r>
          </a:p>
          <a:p>
            <a:pPr lvl="0" indent="0">
              <a:buNone/>
            </a:pPr>
            <a:r>
              <a:rPr>
                <a:latin typeface="Courier"/>
              </a:rPr>
              <a:t>224×224×3
 → Conv32 → Pool → Conv64 → Pool → Conv128 → Pool
 → Flatten → Dropout(0.5) → Dense128 → Softmax</a:t>
            </a:r>
          </a:p>
          <a:p>
            <a:pPr lvl="0"/>
            <a:r>
              <a:rPr/>
              <a:t>المُحسِّن Adam، خسارة الإنتروبيا المتقاطعة، إيقاف مبكر، تعزيز بيانات.</a:t>
            </a:r>
          </a:p>
          <a:p>
            <a:pPr lvl="0"/>
            <a:r>
              <a:rPr/>
              <a:t>نموذج </a:t>
            </a:r>
            <a:r>
              <a:rPr b="1"/>
              <a:t>الدمج (fusion)</a:t>
            </a:r>
            <a:r>
              <a:rPr/>
              <a:t>: فرعان (تيار + اهتزاز) ⟵ تجميع متوسّط عام ⟵ دمج ⟵ طبقة كثيفة.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١٢. النتائج — بيانات حقيقية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القناة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الدقة المتوازنة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macro-F1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استدعاء السليم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استدعاء العطل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الاهتزاز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الدمج (تيار+اهتزاز)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0.75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التيار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0.69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0.49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0.37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تسجيلات محجوزة للاختبار، التمييز: سليم مقابل عطل بين اللفات.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١٣. مصفوفات الالتباس</a:t>
            </a:r>
          </a:p>
        </p:txBody>
      </p:sp>
      <p:pic>
        <p:nvPicPr>
          <p:cNvPr descr="../../results/confusion_real_2clas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30300"/>
            <a:ext cx="5105400" cy="2540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الاهتزاز مثالي؛ التيار يُخطئ معظم الأعطال؛ الدمج بينهما.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١٤. التحليل</a:t>
            </a:r>
          </a:p>
          <a:p>
            <a:pPr lvl="0"/>
            <a:r>
              <a:rPr b="1"/>
              <a:t>الاهتزاز ≫ التيار</a:t>
            </a:r>
            <a:r>
              <a:rPr/>
              <a:t> لكشف العطل بين اللفات — متوقّع فيزيائياً (الاهتزاز يستجيب مباشرة، وFOC يُخمد بصمة التيار).</a:t>
            </a:r>
          </a:p>
          <a:p>
            <a:pPr lvl="0"/>
            <a:r>
              <a:rPr b="1"/>
              <a:t>الدمج</a:t>
            </a:r>
            <a:r>
              <a:rPr/>
              <a:t> يتفوّق على التيار وحده لكن ليس على الاهتزاز وحده.</a:t>
            </a:r>
          </a:p>
          <a:p>
            <a:pPr lvl="0"/>
            <a:r>
              <a:rPr b="1"/>
              <a:t>اختيار المقياس مهم</a:t>
            </a:r>
            <a:r>
              <a:rPr/>
              <a:t>: الدقة المتوازنة كشفت انهيار صنف الأغلبية الذي تُخفيه الدقة الخام.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١٥. تجارب التحسين</a:t>
            </a:r>
          </a:p>
          <a:p>
            <a:pPr lvl="0"/>
            <a:r>
              <a:rPr b="1"/>
              <a:t>الموازنة</a:t>
            </a:r>
            <a:r>
              <a:rPr/>
              <a:t> تمنع انهيار الأغلبية (استدعاء السليم للتيار 0.00 ⟵ 1.00).</a:t>
            </a:r>
          </a:p>
          <a:p>
            <a:pPr lvl="0"/>
            <a:r>
              <a:rPr b="1"/>
              <a:t>حجم الصورة</a:t>
            </a:r>
            <a:r>
              <a:rPr/>
              <a:t>: يُحسّن التيار تدريجياً (0.68→0.76 من 96 إلى 224)؛ الاهتزاز مُشبَع.</a:t>
            </a:r>
          </a:p>
          <a:p>
            <a:pPr lvl="0"/>
            <a:r>
              <a:rPr b="1"/>
              <a:t>منحنى التعلّم</a:t>
            </a:r>
            <a:r>
              <a:rPr/>
              <a:t>: الاهتزاز يكفيه ~46 صورة؛ التيار ثابت ~0.70 مهما زادت البيانات ⟵ القيد جودة الإشارة لا كميّتها.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١٦. القيود</a:t>
            </a:r>
          </a:p>
          <a:p>
            <a:pPr lvl="0"/>
            <a:r>
              <a:rPr b="1"/>
              <a:t>4 تسجيلات سليمة فقط</a:t>
            </a:r>
            <a:r>
              <a:rPr/>
              <a:t> ⟵ النتيجة المثالية للاهتزاز لا تستبعد تماماً تعلّم “هوية التسجيل”.</a:t>
            </a:r>
          </a:p>
          <a:p>
            <a:pPr lvl="0"/>
            <a:r>
              <a:rPr/>
              <a:t>إزالة المغنطة والحمل الزائد اصطناعية فقط.</a:t>
            </a:r>
          </a:p>
          <a:p>
            <a:pPr lvl="0"/>
            <a:r>
              <a:rPr/>
              <a:t>مقارنة الدمج إرشادية لا مضبوطة بدقّة.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١٧. الخلاصة والعمل المستقبلي</a:t>
            </a:r>
          </a:p>
          <a:p>
            <a:pPr lvl="0"/>
            <a:r>
              <a:rPr/>
              <a:t>منظومة scalogram + CNN قابلة للتكرار تكشف الأعطال بين اللفات؛ </a:t>
            </a:r>
            <a:r>
              <a:rPr b="1"/>
              <a:t>الاهتزاز يبلغ دقة متوازنة 1.00</a:t>
            </a:r>
            <a:r>
              <a:rPr/>
              <a:t> على تسجيلات محجوزة.</a:t>
            </a:r>
          </a:p>
          <a:p>
            <a:pPr lvl="0"/>
            <a:r>
              <a:rPr/>
              <a:t>مستقبلاً: تسجيلات مستقلّة أكثر؛ مجموعة دمج متعدّدة القنوات متزامنة؛ تصنيف حسب الشدّة؛ التفسيرية (Grad-CAM)؛ النشر اللحظي داخل المُشغّل.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شكراً لكم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أسئلتكم؟</a:t>
            </a:r>
          </a:p>
          <a:p>
            <a:pPr lvl="0" indent="0" marL="0">
              <a:buNone/>
            </a:pPr>
            <a:r>
              <a:rPr/>
              <a:t>الشيفرة والبيانات والتقرير الكامل: </a:t>
            </a:r>
            <a:r>
              <a:rPr>
                <a:latin typeface="Courier"/>
              </a:rPr>
              <a:t>github.com/molhamfetnah/pmsm-fault-diagnosis-cnn-scalogram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تشخيص أعطال محركات PMSM باستخدام صور Wavelet Scalogram والشبكات العصبية الالتفافية</dc:title>
  <dc:creator/>
  <cp:keywords/>
  <dcterms:created xsi:type="dcterms:W3CDTF">2026-06-24T13:11:28Z</dcterms:created>
  <dcterms:modified xsi:type="dcterms:W3CDTF">2026-06-24T13:11:28Z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ir">
    <vt:lpwstr>rtl</vt:lpwstr>
  </property>
</Properties>
</file>