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PMSM Fault Diagnosis — Wavelet Scalogram + CNN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PMSM Fault Diagnosis using Wavelet Scalograms +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Aleppo University — Faculty of Electrical &amp; Electronic Engineering</a:t>
            </a:r>
            <a:r>
              <a:rPr/>
              <a:t> · </a:t>
            </a:r>
            <a:r>
              <a:rPr b="1"/>
              <a:t>Department of Mechatronics Engineering</a:t>
            </a:r>
          </a:p>
          <a:p>
            <a:pPr lvl="0" indent="0" marL="0">
              <a:buNone/>
            </a:pPr>
            <a:r>
              <a:rPr/>
              <a:t>Students: </a:t>
            </a:r>
            <a:r>
              <a:rPr b="1"/>
              <a:t>Mulham Fetna</a:t>
            </a:r>
            <a:r>
              <a:rPr/>
              <a:t> · </a:t>
            </a:r>
            <a:r>
              <a:rPr b="1"/>
              <a:t>Mohammad Zein Qabbani</a:t>
            </a:r>
          </a:p>
          <a:p>
            <a:pPr lvl="0" indent="0" marL="0">
              <a:buNone/>
            </a:pPr>
            <a:r>
              <a:rPr/>
              <a:t>Supervisor: </a:t>
            </a:r>
            <a:r>
              <a:rPr b="1"/>
              <a:t>Eng. Saad Almoustafa</a:t>
            </a:r>
            <a:r>
              <a:rPr/>
              <a:t> · Year: </a:t>
            </a:r>
            <a:r>
              <a:rPr b="1"/>
              <a:t>Fourth Year</a:t>
            </a:r>
          </a:p>
          <a:p>
            <a:pPr lvl="0" indent="0" marL="0">
              <a:buNone/>
            </a:pPr>
            <a:r>
              <a:rPr i="1"/>
              <a:t>Research seminar — CNN classification of PMSM operating states from time–frequency images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The problem</a:t>
            </a:r>
          </a:p>
          <a:p>
            <a:pPr lvl="0"/>
            <a:r>
              <a:rPr b="1"/>
              <a:t>PMSM</a:t>
            </a:r>
            <a:r>
              <a:rPr/>
              <a:t> motors run EVs, robots, industrial servos, aircraft actuators.</a:t>
            </a:r>
          </a:p>
          <a:p>
            <a:pPr lvl="0"/>
            <a:r>
              <a:rPr/>
              <a:t>The most common stator fault — an </a:t>
            </a:r>
            <a:r>
              <a:rPr b="1"/>
              <a:t>inter-turn short circuit</a:t>
            </a:r>
            <a:r>
              <a:rPr/>
              <a:t> — can escalate to total winding failure within minutes.</a:t>
            </a:r>
          </a:p>
          <a:p>
            <a:pPr lvl="0"/>
            <a:r>
              <a:rPr/>
              <a:t>Goal: </a:t>
            </a:r>
            <a:r>
              <a:rPr b="1"/>
              <a:t>detect faults automatically and early</a:t>
            </a:r>
            <a:r>
              <a:rPr/>
              <a:t> from the motor’s own signals.</a:t>
            </a:r>
          </a:p>
          <a:p>
            <a:pPr lvl="0"/>
            <a:r>
              <a:rPr/>
              <a:t>Classical methods (e.g. current spectrum analysis) need an expert to know </a:t>
            </a:r>
            <a:r>
              <a:rPr i="1"/>
              <a:t>which</a:t>
            </a:r>
            <a:r>
              <a:rPr/>
              <a:t> frequency to watch and break down when speed/load vary.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Our idea</a:t>
            </a:r>
          </a:p>
          <a:p>
            <a:pPr lvl="0" indent="0" marL="0">
              <a:buNone/>
            </a:pPr>
            <a:r>
              <a:rPr/>
              <a:t>Turn a </a:t>
            </a:r>
            <a:r>
              <a:rPr b="1"/>
              <a:t>signal</a:t>
            </a:r>
            <a:r>
              <a:rPr/>
              <a:t> problem into an </a:t>
            </a:r>
            <a:r>
              <a:rPr b="1"/>
              <a:t>image</a:t>
            </a:r>
            <a:r>
              <a:rPr/>
              <a:t> problem.</a:t>
            </a:r>
          </a:p>
          <a:p>
            <a:pPr lvl="0" indent="0">
              <a:buNone/>
            </a:pPr>
            <a:r>
              <a:rPr>
                <a:latin typeface="Courier"/>
              </a:rPr>
              <a:t> signal ─► segment ─► CWT ─► scalogram image ─► CNN ─► fault class
(current/                  (Morlet)  (224×224)         Healthy / InterTurn
 vibration)                                            (+ Demag / Overload)</a:t>
            </a:r>
          </a:p>
          <a:p>
            <a:pPr lvl="0"/>
            <a:r>
              <a:rPr/>
              <a:t>The CNN </a:t>
            </a:r>
            <a:r>
              <a:rPr b="1"/>
              <a:t>learns</a:t>
            </a:r>
            <a:r>
              <a:rPr/>
              <a:t> the fault signatures itself — no hand-designed features.</a:t>
            </a:r>
          </a:p>
          <a:p>
            <a:pPr lvl="0"/>
            <a:r>
              <a:rPr/>
              <a:t>Two signal channels studied: </a:t>
            </a:r>
            <a:r>
              <a:rPr b="1"/>
              <a:t>stator current</a:t>
            </a:r>
            <a:r>
              <a:rPr/>
              <a:t> and </a:t>
            </a:r>
            <a:r>
              <a:rPr b="1"/>
              <a:t>vibration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System pipeline</a:t>
            </a:r>
          </a:p>
          <a:p>
            <a:pPr lvl="0"/>
            <a:r>
              <a:rPr b="1"/>
              <a:t>Sources:</a:t>
            </a:r>
            <a:r>
              <a:rPr/>
              <a:t> real KAIST dataset (current + vibration), a synthetic generator, and MATLAB FOC/Simscape simulation.</a:t>
            </a:r>
          </a:p>
          <a:p>
            <a:pPr lvl="0"/>
            <a:r>
              <a:rPr b="1"/>
              <a:t>One config + one manifest</a:t>
            </a:r>
            <a:r>
              <a:rPr/>
              <a:t> drive everything (signal → scalogram → label → split): fully reproducible.</a:t>
            </a:r>
          </a:p>
          <a:p>
            <a:pPr lvl="0"/>
            <a:r>
              <a:rPr/>
              <a:t>Implemented in Python (TensorFlow/Keras, PyWavelets), MATLAB-free, </a:t>
            </a:r>
            <a:r>
              <a:rPr b="1"/>
              <a:t>38 unit tests + CI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PMSM &amp; its faults</a:t>
            </a:r>
          </a:p>
          <a:p>
            <a:pPr lvl="0"/>
            <a:r>
              <a:rPr/>
              <a:t>PMSM: permanent-magnet rotor locks onto the stator’s rotating field → rotates </a:t>
            </a:r>
            <a:r>
              <a:rPr b="1"/>
              <a:t>synchronously</a:t>
            </a:r>
            <a:r>
              <a:rPr/>
              <a:t>, no slip → high efficiency.</a:t>
            </a:r>
          </a:p>
          <a:p>
            <a:pPr lvl="0"/>
            <a:r>
              <a:rPr/>
              <a:t>Driven by </a:t>
            </a:r>
            <a:r>
              <a:rPr b="1"/>
              <a:t>Field-Oriented Control (FOC)</a:t>
            </a:r>
            <a:r>
              <a:rPr/>
              <a:t> — current sensors are already present.</a:t>
            </a:r>
          </a:p>
          <a:p>
            <a:pPr lvl="0"/>
            <a:r>
              <a:rPr/>
              <a:t>Faults studied:</a:t>
            </a:r>
          </a:p>
          <a:p>
            <a:pPr lvl="1"/>
            <a:r>
              <a:rPr b="1"/>
              <a:t>Inter-turn short</a:t>
            </a:r>
            <a:r>
              <a:rPr/>
              <a:t> (primary, real data)</a:t>
            </a:r>
          </a:p>
          <a:p>
            <a:pPr lvl="1"/>
            <a:r>
              <a:rPr b="1"/>
              <a:t>Demagnetization</a:t>
            </a:r>
            <a:r>
              <a:rPr/>
              <a:t>, </a:t>
            </a:r>
            <a:r>
              <a:rPr b="1"/>
              <a:t>Overload</a:t>
            </a:r>
            <a:r>
              <a:rPr/>
              <a:t> (synthetic)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Motor &amp; control system</a:t>
            </a:r>
          </a:p>
        </p:txBody>
      </p:sp>
      <p:pic>
        <p:nvPicPr>
          <p:cNvPr descr="../figures/fig_foc_bl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74800"/>
            <a:ext cx="51054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Stator (3-phase winding) + PM rotor; driven by an </a:t>
            </a:r>
            <a:r>
              <a:rPr b="1"/>
              <a:t>inverter</a:t>
            </a:r>
            <a:r>
              <a:rPr/>
              <a:t> under </a:t>
            </a:r>
            <a:r>
              <a:rPr b="1"/>
              <a:t>FOC</a:t>
            </a:r>
            <a:r>
              <a:rPr/>
              <a:t>.</a:t>
            </a:r>
          </a:p>
          <a:p>
            <a:pPr lvl="0"/>
            <a:r>
              <a:rPr/>
              <a:t>The current loop </a:t>
            </a:r>
            <a:r>
              <a:rPr b="1"/>
              <a:t>rejects disturbances → it masks the fault in the current</a:t>
            </a:r>
            <a:r>
              <a:rPr/>
              <a:t>.</a:t>
            </a:r>
          </a:p>
          <a:p>
            <a:pPr lvl="0"/>
            <a:r>
              <a:rPr/>
              <a:t>That is </a:t>
            </a:r>
            <a:r>
              <a:rPr i="1"/>
              <a:t>why vibration detects inter-turn faults far better</a:t>
            </a:r>
            <a:r>
              <a:rPr/>
              <a:t> (our key result).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PMSM vs its relatives</a:t>
            </a:r>
          </a:p>
        </p:txBody>
      </p:sp>
      <p:pic>
        <p:nvPicPr>
          <p:cNvPr descr="../figures/fig_motor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24000"/>
            <a:ext cx="51054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vs </a:t>
            </a:r>
            <a:r>
              <a:rPr b="1"/>
              <a:t>PMDC</a:t>
            </a:r>
            <a:r>
              <a:rPr/>
              <a:t>: same easy torque control, but no brushes → less maintenance.</a:t>
            </a:r>
          </a:p>
          <a:p>
            <a:pPr lvl="0"/>
            <a:r>
              <a:rPr/>
              <a:t>vs </a:t>
            </a:r>
            <a:r>
              <a:rPr b="1"/>
              <a:t>BLDC</a:t>
            </a:r>
            <a:r>
              <a:rPr/>
              <a:t>: sinusoidal back-EMF + FOC → smoother torque, higher efficiency.</a:t>
            </a:r>
          </a:p>
          <a:p>
            <a:pPr lvl="0"/>
            <a:r>
              <a:rPr/>
              <a:t>vs </a:t>
            </a:r>
            <a:r>
              <a:rPr b="1"/>
              <a:t>Induction</a:t>
            </a:r>
            <a:r>
              <a:rPr/>
              <a:t>: no rotor current/slip → higher efficiency &amp; torque density.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Detecting the fault — today vs this work</a:t>
            </a:r>
          </a:p>
        </p:txBody>
      </p:sp>
      <p:pic>
        <p:nvPicPr>
          <p:cNvPr descr="../figures/fig_detection_taxon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843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Manual/offline (thermal, </a:t>
            </a:r>
            <a:r>
              <a:rPr b="1"/>
              <a:t>Megger</a:t>
            </a:r>
            <a:r>
              <a:rPr/>
              <a:t>, surge) → need shutdown, periodic.</a:t>
            </a:r>
          </a:p>
          <a:p>
            <a:pPr lvl="0"/>
            <a:r>
              <a:rPr/>
              <a:t>Online MCSA/vibration FFT → fixed thresholds, fooled by load/speed.</a:t>
            </a:r>
          </a:p>
          <a:p>
            <a:pPr lvl="0"/>
            <a:r>
              <a:rPr b="1"/>
              <a:t>CWT scalogram + CNN</a:t>
            </a:r>
            <a:r>
              <a:rPr/>
              <a:t> → learns features, robust, detects </a:t>
            </a:r>
            <a:r>
              <a:rPr b="1"/>
              <a:t>earlier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Why wavelets, not Fourier</a:t>
            </a:r>
          </a:p>
          <a:p>
            <a:pPr lvl="0"/>
            <a:r>
              <a:rPr/>
              <a:t>Fourier is </a:t>
            </a:r>
            <a:r>
              <a:rPr b="1"/>
              <a:t>blind to time</a:t>
            </a:r>
            <a:r>
              <a:rPr/>
              <a:t> — it can’t say </a:t>
            </a:r>
            <a:r>
              <a:rPr i="1"/>
              <a:t>when</a:t>
            </a:r>
            <a:r>
              <a:rPr/>
              <a:t> a frequency occurs.</a:t>
            </a:r>
          </a:p>
          <a:p>
            <a:pPr lvl="0"/>
            <a:r>
              <a:rPr/>
              <a:t>Motor fault signals are </a:t>
            </a:r>
            <a:r>
              <a:rPr b="1"/>
              <a:t>non-stationary</a:t>
            </a:r>
            <a:r>
              <a:rPr/>
              <a:t> (transient, load-dependent).</a:t>
            </a:r>
          </a:p>
          <a:p>
            <a:pPr lvl="0"/>
            <a:r>
              <a:rPr/>
              <a:t>Uncertainty principle: </a:t>
            </a:r>
            <a:r>
              <a:rPr>
                <a:latin typeface="Courier"/>
              </a:rPr>
              <a:t>Δt · Δf ≥ const</a:t>
            </a:r>
            <a:r>
              <a:rPr/>
              <a:t> — can’t have perfect time </a:t>
            </a:r>
            <a:r>
              <a:rPr i="1"/>
              <a:t>and</a:t>
            </a:r>
            <a:r>
              <a:rPr/>
              <a:t> frequency resolution.</a:t>
            </a:r>
          </a:p>
          <a:p>
            <a:pPr lvl="0"/>
            <a:r>
              <a:rPr b="1"/>
              <a:t>Wavelets</a:t>
            </a:r>
            <a:r>
              <a:rPr/>
              <a:t> = short, localised waves → frequency-dependent resolution, ideal for transients.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The CWT &amp; scalogram</a:t>
            </a:r>
          </a:p>
          <a:p>
            <a:pPr lvl="0"/>
            <a:r>
              <a:rPr/>
              <a:t>Scale the </a:t>
            </a:r>
            <a:r>
              <a:rPr b="1"/>
              <a:t>Morlet</a:t>
            </a:r>
            <a:r>
              <a:rPr/>
              <a:t> wavelet (frequency knob) and slide it (time knob).</a:t>
            </a:r>
          </a:p>
          <a:p>
            <a:pPr lvl="0"/>
            <a:r>
              <a:rPr/>
              <a:t>Each coefficient = </a:t>
            </a:r>
            <a:r>
              <a:rPr b="1"/>
              <a:t>similarity</a:t>
            </a:r>
            <a:r>
              <a:rPr/>
              <a:t> of the signal to that wave at that time.</a:t>
            </a:r>
          </a:p>
          <a:p>
            <a:pPr lvl="0"/>
            <a:r>
              <a:rPr b="1"/>
              <a:t>Scalogram</a:t>
            </a:r>
            <a:r>
              <a:rPr/>
              <a:t> = colour image of energy vs. time (x) and frequency (y).</a:t>
            </a:r>
          </a:p>
          <a:p>
            <a:pPr lvl="0"/>
            <a:r>
              <a:rPr/>
              <a:t>Bright bands &amp; side-bands = fault signatures the CNN can </a:t>
            </a:r>
            <a:r>
              <a:rPr i="1"/>
              <a:t>see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Example scalograms (real KAIST data)</a:t>
            </a:r>
          </a:p>
        </p:txBody>
      </p:sp>
      <p:pic>
        <p:nvPicPr>
          <p:cNvPr descr="../../results/example_scalograms_re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27200"/>
            <a:ext cx="51054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Inter-turn fault visibly </a:t>
            </a:r>
            <a:r>
              <a:rPr b="1"/>
              <a:t>enriches the vibration time–frequency content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The dataset</a:t>
            </a:r>
          </a:p>
          <a:p>
            <a:pPr lvl="0"/>
            <a:r>
              <a:rPr b="1"/>
              <a:t>KAIST PMSM stator-fault dataset</a:t>
            </a:r>
            <a:r>
              <a:rPr/>
              <a:t> (Mendeley </a:t>
            </a:r>
            <a:r>
              <a:rPr>
                <a:latin typeface="Courier"/>
              </a:rPr>
              <a:t>rgn5brrgrn</a:t>
            </a:r>
            <a:r>
              <a:rPr/>
              <a:t>, CC-BY-4.0).</a:t>
            </a:r>
          </a:p>
          <a:p>
            <a:pPr lvl="0"/>
            <a:r>
              <a:rPr/>
              <a:t>Current @ </a:t>
            </a:r>
            <a:r>
              <a:rPr b="1"/>
              <a:t>100 kHz</a:t>
            </a:r>
            <a:r>
              <a:rPr/>
              <a:t>, vibration @ </a:t>
            </a:r>
            <a:r>
              <a:rPr b="1"/>
              <a:t>25.6 kHz</a:t>
            </a:r>
            <a:r>
              <a:rPr/>
              <a:t> → decimated to 10 kHz.</a:t>
            </a:r>
          </a:p>
          <a:p>
            <a:pPr lvl="0"/>
            <a:r>
              <a:rPr b="1"/>
              <a:t>3,150</a:t>
            </a:r>
            <a:r>
              <a:rPr/>
              <a:t> scalogram segments (0.5 s windows, 50 % overlap).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InterTurn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(4 rec.)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1350 (27 rec.)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vibration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(4 rec.)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1400 (28 rec.)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Leakage-free split</a:t>
            </a:r>
          </a:p>
          <a:p>
            <a:pPr lvl="0"/>
            <a:r>
              <a:rPr/>
              <a:t>Split by </a:t>
            </a:r>
            <a:r>
              <a:rPr b="1"/>
              <a:t>recording</a:t>
            </a:r>
            <a:r>
              <a:rPr/>
              <a:t>, not by segment → no correlated windows across train/test (no data leakage).</a:t>
            </a:r>
          </a:p>
          <a:p>
            <a:pPr lvl="0"/>
            <a:r>
              <a:rPr/>
              <a:t>Stratified by class, </a:t>
            </a:r>
            <a:r>
              <a:rPr b="1"/>
              <a:t>per channel</a:t>
            </a:r>
            <a:r>
              <a:rPr/>
              <a:t>, 70 / 15 / 15.</a:t>
            </a:r>
          </a:p>
          <a:p>
            <a:pPr lvl="0"/>
            <a:r>
              <a:rPr/>
              <a:t>Special care: only </a:t>
            </a:r>
            <a:r>
              <a:rPr b="1"/>
              <a:t>4 healthy recordings</a:t>
            </a:r>
            <a:r>
              <a:rPr/>
              <a:t> → force ≥1 into each split so every class is evaluable.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Class imbalance — the key issue</a:t>
            </a:r>
          </a:p>
          <a:p>
            <a:pPr lvl="0"/>
            <a:r>
              <a:rPr/>
              <a:t>Only </a:t>
            </a:r>
            <a:r>
              <a:rPr b="1"/>
              <a:t>4 healthy</a:t>
            </a:r>
            <a:r>
              <a:rPr/>
              <a:t> vs ~60 fault recordings.</a:t>
            </a:r>
          </a:p>
          <a:p>
            <a:pPr lvl="0"/>
            <a:r>
              <a:rPr/>
              <a:t>Naïve training → model predicts “faulty” for everything: </a:t>
            </a:r>
            <a:r>
              <a:rPr b="1"/>
              <a:t>80 % “accuracy” but 0 % healthy detection.</a:t>
            </a:r>
          </a:p>
          <a:p>
            <a:pPr lvl="0"/>
            <a:r>
              <a:rPr/>
              <a:t>Fix: </a:t>
            </a:r>
            <a:r>
              <a:rPr b="1"/>
              <a:t>undersample the majority in train/val</a:t>
            </a:r>
            <a:r>
              <a:rPr/>
              <a:t>, keep </a:t>
            </a:r>
            <a:r>
              <a:rPr b="1"/>
              <a:t>test natural</a:t>
            </a:r>
            <a:r>
              <a:rPr/>
              <a:t>.</a:t>
            </a:r>
          </a:p>
          <a:p>
            <a:pPr lvl="0"/>
            <a:r>
              <a:rPr/>
              <a:t>Report </a:t>
            </a:r>
            <a:r>
              <a:rPr b="1"/>
              <a:t>balanced accuracy</a:t>
            </a:r>
            <a:r>
              <a:rPr/>
              <a:t> &amp; </a:t>
            </a:r>
            <a:r>
              <a:rPr b="1"/>
              <a:t>macro-F1</a:t>
            </a:r>
            <a:r>
              <a:rPr/>
              <a:t>, not raw accuracy.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11. CNN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224×224×3
 → Conv32 → Pool → Conv64 → Pool → Conv128 → Pool
 → Flatten → Dropout(0.5) → Dense128 → Softmax</a:t>
            </a:r>
          </a:p>
          <a:p>
            <a:pPr lvl="0"/>
            <a:r>
              <a:rPr/>
              <a:t>Adam, sparse cross-entropy, early stopping, data augmentation.</a:t>
            </a:r>
          </a:p>
          <a:p>
            <a:pPr lvl="0"/>
            <a:r>
              <a:rPr b="1"/>
              <a:t>Fusion</a:t>
            </a:r>
            <a:r>
              <a:rPr/>
              <a:t> model: two branches (current + vibration) → global avg pool → concatenate → dense.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12. Results — real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Healthy 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InterTurn rec.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Vibration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Fusion (cur.+vib.)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Held-out recordings, Healthy vs Inter-turn.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13. Confusion matrices</a:t>
            </a:r>
          </a:p>
        </p:txBody>
      </p:sp>
      <p:pic>
        <p:nvPicPr>
          <p:cNvPr descr="../../results/confusion_real_2cl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Vibration is perfect; current misses most faults; fusion is in between.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14. Analysis</a:t>
            </a:r>
          </a:p>
          <a:p>
            <a:pPr lvl="0"/>
            <a:r>
              <a:rPr b="1"/>
              <a:t>Vibration ≫ current</a:t>
            </a:r>
            <a:r>
              <a:rPr/>
              <a:t> for inter-turn detection — physically expected (vibration responds directly; FOC suppresses current signatures).</a:t>
            </a:r>
          </a:p>
          <a:p>
            <a:pPr lvl="0"/>
            <a:r>
              <a:rPr b="1"/>
              <a:t>Fusion</a:t>
            </a:r>
            <a:r>
              <a:rPr/>
              <a:t> beats current but not vibration alone on this small data.</a:t>
            </a:r>
          </a:p>
          <a:p>
            <a:pPr lvl="0"/>
            <a:r>
              <a:rPr/>
              <a:t>Right </a:t>
            </a:r>
            <a:r>
              <a:rPr b="1"/>
              <a:t>metric matters</a:t>
            </a:r>
            <a:r>
              <a:rPr/>
              <a:t>: balanced accuracy exposed the majority-class collapse that raw accuracy hid.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15. Improvement experiments</a:t>
            </a:r>
          </a:p>
          <a:p>
            <a:pPr lvl="0"/>
            <a:r>
              <a:rPr b="1"/>
              <a:t>Balancing</a:t>
            </a:r>
            <a:r>
              <a:rPr/>
              <a:t> removes the majority-class collapse (current healthy recall 0.00 → 1.00).</a:t>
            </a:r>
          </a:p>
          <a:p>
            <a:pPr lvl="0"/>
            <a:r>
              <a:rPr b="1"/>
              <a:t>Image size</a:t>
            </a:r>
            <a:r>
              <a:rPr/>
              <a:t> &amp; </a:t>
            </a:r>
            <a:r>
              <a:rPr b="1"/>
              <a:t>training-set size</a:t>
            </a:r>
            <a:r>
              <a:rPr/>
              <a:t> studied (see </a:t>
            </a:r>
            <a:r>
              <a:rPr>
                <a:latin typeface="Courier"/>
              </a:rPr>
              <a:t>docs/experiments.md</a:t>
            </a:r>
            <a:r>
              <a:rPr/>
              <a:t>).</a:t>
            </a:r>
          </a:p>
          <a:p>
            <a:pPr lvl="0"/>
            <a:r>
              <a:rPr/>
              <a:t>Overfitting controlled by dropout, global average pooling, augmentation and early stopping.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16. Limitations</a:t>
            </a:r>
          </a:p>
          <a:p>
            <a:pPr lvl="0"/>
            <a:r>
              <a:rPr/>
              <a:t>Only </a:t>
            </a:r>
            <a:r>
              <a:rPr b="1"/>
              <a:t>4 distinct healthy recordings</a:t>
            </a:r>
            <a:r>
              <a:rPr/>
              <a:t> → perfect vibration score can’t yet exclude a </a:t>
            </a:r>
            <a:r>
              <a:rPr i="1"/>
              <a:t>recording-identity</a:t>
            </a:r>
            <a:r>
              <a:rPr/>
              <a:t> shortcut.</a:t>
            </a:r>
          </a:p>
          <a:p>
            <a:pPr lvl="0"/>
            <a:r>
              <a:rPr/>
              <a:t>Demagnetization / Overload only synthetic.</a:t>
            </a:r>
          </a:p>
          <a:p>
            <a:pPr lvl="0"/>
            <a:r>
              <a:rPr/>
              <a:t>Fusion comparison indicative, not strictly controlled.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17. Conclusions &amp; future work</a:t>
            </a:r>
          </a:p>
          <a:p>
            <a:pPr lvl="0"/>
            <a:r>
              <a:rPr/>
              <a:t>A reproducible scalogram + CNN pipeline detects inter-turn PMSM faults; </a:t>
            </a:r>
            <a:r>
              <a:rPr b="1"/>
              <a:t>vibration reaches balanced accuracy 1.00</a:t>
            </a:r>
            <a:r>
              <a:rPr/>
              <a:t> on held-out recordings.</a:t>
            </a:r>
          </a:p>
          <a:p>
            <a:pPr lvl="0"/>
            <a:r>
              <a:rPr/>
              <a:t>Future: more independent recordings; paired multi-channel fusion; severity-aware targets; explainability (Grad-CAM); on-line deployment in the drive.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  <a:p>
            <a:pPr lvl="0" indent="0" marL="0">
              <a:buNone/>
            </a:pPr>
            <a:r>
              <a:rPr/>
              <a:t>Code, data instructions and full report: </a:t>
            </a:r>
            <a:r>
              <a:rPr>
                <a:latin typeface="Courier"/>
              </a:rPr>
              <a:t>github.com/molhamfetnah/pmsm-fault-diagnosis-cnn-scalogram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PMSM Fault Diagnosis — Wavelet Scalogram + CNN</dc:title>
  <dc:creator/>
  <cp:keywords/>
  <dcterms:created xsi:type="dcterms:W3CDTF">2026-06-24T11:07:37Z</dcterms:created>
  <dcterms:modified xsi:type="dcterms:W3CDTF">2026-06-24T11:07:37Z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